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</c:v>
                </c:pt>
              </c:strCache>
            </c:strRef>
          </c:tx>
          <c:spPr>
            <a:solidFill>
              <a:srgbClr val="1565C0"/>
            </a:solidFill>
            <a:ln w="25400" cap="flat">
              <a:solidFill>
                <a:srgbClr val="1565C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565C0"/>
              </a:solidFill>
              <a:ln w="9525" cap="flat">
                <a:solidFill>
                  <a:srgbClr val="1565C0"/>
                </a:solidFill>
                <a:prstDash val="solid"/>
                <a:round/>
              </a:ln>
              <a:effectLst/>
            </c:spPr>
          </c:marker>
          <c:xVal>
            <c:numRef>
              <c:f>Sheet1!$A$2:$A$22</c:f>
              <c:numCache>
                <c:formatCode>General</c:formatCode>
                <c:ptCount val="21"/>
                <c:pt idx="0">
                  <c:v>0.0625</c:v>
                </c:pt>
                <c:pt idx="1">
                  <c:v>0.0631</c:v>
                </c:pt>
                <c:pt idx="2">
                  <c:v>0.0637</c:v>
                </c:pt>
                <c:pt idx="3">
                  <c:v>0.0643</c:v>
                </c:pt>
                <c:pt idx="4">
                  <c:v>0.0649</c:v>
                </c:pt>
                <c:pt idx="5">
                  <c:v>0.0656</c:v>
                </c:pt>
                <c:pt idx="6">
                  <c:v>0.0662</c:v>
                </c:pt>
                <c:pt idx="7">
                  <c:v>0.0668</c:v>
                </c:pt>
                <c:pt idx="8">
                  <c:v>0.0674</c:v>
                </c:pt>
                <c:pt idx="9">
                  <c:v>0.068</c:v>
                </c:pt>
                <c:pt idx="10">
                  <c:v>0.0686</c:v>
                </c:pt>
                <c:pt idx="11">
                  <c:v>0.0692</c:v>
                </c:pt>
                <c:pt idx="12">
                  <c:v>0.0698</c:v>
                </c:pt>
                <c:pt idx="13">
                  <c:v>0.0704</c:v>
                </c:pt>
                <c:pt idx="14">
                  <c:v>0.071</c:v>
                </c:pt>
                <c:pt idx="15">
                  <c:v>0.0716</c:v>
                </c:pt>
                <c:pt idx="16">
                  <c:v>0.0722</c:v>
                </c:pt>
                <c:pt idx="17">
                  <c:v>0.0728</c:v>
                </c:pt>
                <c:pt idx="18">
                  <c:v>0.0734</c:v>
                </c:pt>
                <c:pt idx="19">
                  <c:v>0.074</c:v>
                </c:pt>
                <c:pt idx="20">
                  <c:v>0.0746</c:v>
                </c:pt>
              </c:numCache>
            </c:numRef>
          </c:xVal>
          <c:yVal>
            <c:numRef>
              <c:f>Sheet1!$B$2:$B$22</c:f>
              <c:numCache>
                <c:formatCode>General</c:formatCode>
                <c:ptCount val="21"/>
                <c:pt idx="0">
                  <c:v>1.5641</c:v>
                </c:pt>
                <c:pt idx="1">
                  <c:v>1.527</c:v>
                </c:pt>
                <c:pt idx="2">
                  <c:v>1.4997</c:v>
                </c:pt>
                <c:pt idx="3">
                  <c:v>1.4828</c:v>
                </c:pt>
                <c:pt idx="4">
                  <c:v>1.4765</c:v>
                </c:pt>
                <c:pt idx="5">
                  <c:v>1.4812</c:v>
                </c:pt>
                <c:pt idx="6">
                  <c:v>1.4966</c:v>
                </c:pt>
                <c:pt idx="7">
                  <c:v>1.5224</c:v>
                </c:pt>
                <c:pt idx="8">
                  <c:v>1.5581</c:v>
                </c:pt>
                <c:pt idx="9">
                  <c:v>1.603</c:v>
                </c:pt>
                <c:pt idx="10">
                  <c:v>1.6565</c:v>
                </c:pt>
                <c:pt idx="11">
                  <c:v>1.7176</c:v>
                </c:pt>
                <c:pt idx="12">
                  <c:v>1.7857</c:v>
                </c:pt>
                <c:pt idx="13">
                  <c:v>1.8599</c:v>
                </c:pt>
                <c:pt idx="14">
                  <c:v>1.9395</c:v>
                </c:pt>
                <c:pt idx="15">
                  <c:v>2.024</c:v>
                </c:pt>
                <c:pt idx="16">
                  <c:v>2.1126</c:v>
                </c:pt>
                <c:pt idx="17">
                  <c:v>2.205</c:v>
                </c:pt>
                <c:pt idx="18">
                  <c:v>2.3007</c:v>
                </c:pt>
                <c:pt idx="19">
                  <c:v>2.3992</c:v>
                </c:pt>
                <c:pt idx="20">
                  <c:v>2.5003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Std Dev (%)</a:t>
                </a:r>
              </a:p>
            </c:rich>
          </c:tx>
          <c:layout/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EF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Return (%)</a:t>
                </a:r>
              </a:p>
            </c:rich>
          </c:tx>
          <c:layout/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Portfolio (VBTLX+VFIAX)</c:v>
                </c:pt>
              </c:strCache>
            </c:strRef>
          </c:tx>
          <c:spPr>
            <a:solidFill>
              <a:srgbClr val="1565C0"/>
            </a:solidFill>
            <a:ln w="31750" cap="flat">
              <a:solidFill>
                <a:srgbClr val="1565C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565C0"/>
              </a:solidFill>
              <a:ln w="9525" cap="flat">
                <a:solidFill>
                  <a:srgbClr val="1565C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Jan 16</c:v>
                  </c:pt>
                  <c:pt idx="1">
                    <c:v>Feb 16</c:v>
                  </c:pt>
                  <c:pt idx="2">
                    <c:v>Mar 16</c:v>
                  </c:pt>
                  <c:pt idx="3">
                    <c:v>Apr 16</c:v>
                  </c:pt>
                  <c:pt idx="4">
                    <c:v>May 16</c:v>
                  </c:pt>
                  <c:pt idx="5">
                    <c:v>Jun 16</c:v>
                  </c:pt>
                  <c:pt idx="6">
                    <c:v>Jul 16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-0.62</c:v>
                </c:pt>
                <c:pt idx="1">
                  <c:v>0.41</c:v>
                </c:pt>
                <c:pt idx="2">
                  <c:v>2.82</c:v>
                </c:pt>
                <c:pt idx="3">
                  <c:v>0.39</c:v>
                </c:pt>
                <c:pt idx="4">
                  <c:v>0.59</c:v>
                </c:pt>
                <c:pt idx="5">
                  <c:v>1.4</c:v>
                </c:pt>
                <c:pt idx="6">
                  <c:v>1.62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AAPL</c:v>
                </c:pt>
              </c:strCache>
            </c:strRef>
          </c:tx>
          <c:spPr>
            <a:solidFill>
              <a:srgbClr val="E53935"/>
            </a:solidFill>
            <a:ln w="31750" cap="flat">
              <a:solidFill>
                <a:srgbClr val="E5393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53935"/>
              </a:solidFill>
              <a:ln w="9525" cap="flat">
                <a:solidFill>
                  <a:srgbClr val="E5393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Jan 16</c:v>
                  </c:pt>
                  <c:pt idx="1">
                    <c:v>Feb 16</c:v>
                  </c:pt>
                  <c:pt idx="2">
                    <c:v>Mar 16</c:v>
                  </c:pt>
                  <c:pt idx="3">
                    <c:v>Apr 16</c:v>
                  </c:pt>
                  <c:pt idx="4">
                    <c:v>May 16</c:v>
                  </c:pt>
                  <c:pt idx="5">
                    <c:v>Jun 16</c:v>
                  </c:pt>
                  <c:pt idx="6">
                    <c:v>Jul 16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1.77</c:v>
                </c:pt>
                <c:pt idx="1">
                  <c:v>-10.23</c:v>
                </c:pt>
                <c:pt idx="2">
                  <c:v>9.84</c:v>
                </c:pt>
                <c:pt idx="3">
                  <c:v>-0.58</c:v>
                </c:pt>
                <c:pt idx="4">
                  <c:v>-11.02</c:v>
                </c:pt>
                <c:pt idx="5">
                  <c:v>-7.52</c:v>
                </c:pt>
                <c:pt idx="6">
                  <c:v>-0.13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EEF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Monthly Return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0"/>
            <a:ext cx="4663440" cy="68580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0"/>
            <a:ext cx="3200400" cy="6858000"/>
          </a:xfrm>
          <a:prstGeom prst="rect">
            <a:avLst/>
          </a:prstGeom>
          <a:solidFill>
            <a:srgbClr val="1E88E5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Diversification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02920" y="196596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Efficient Frontier Analysis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3108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Wharton Business &amp; Financial Modeling Capstone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3611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Portfolio Theory  ·  Markowitz Efficient Frontier  ·  Multi-Asset Allocation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5303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April 2026  |  Capstone Project  |  Wharton on Coursera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580644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Arnab Saha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2B5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Diversification?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20040" y="841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principle of Modern Portfolio Theory (Markowitz, 1952)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371600"/>
            <a:ext cx="36576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371600"/>
            <a:ext cx="3657600" cy="658368"/>
          </a:xfrm>
          <a:prstGeom prst="rect">
            <a:avLst/>
          </a:prstGeom>
          <a:solidFill>
            <a:srgbClr val="0A2B5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89888"/>
            <a:ext cx="34381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Risk Reduction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4632" y="214884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assets with low or negative correlation reduces portfolio volatility without sacrificing expected return.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61104" y="1371600"/>
            <a:ext cx="36576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61104" y="1371600"/>
            <a:ext cx="3657600" cy="658368"/>
          </a:xfrm>
          <a:prstGeom prst="rect">
            <a:avLst/>
          </a:prstGeom>
          <a:solidFill>
            <a:srgbClr val="0A2B5E"/>
          </a:solidFill>
          <a:ln/>
        </p:spPr>
      </p:sp>
      <p:sp>
        <p:nvSpPr>
          <p:cNvPr id="11" name="Text 9"/>
          <p:cNvSpPr/>
          <p:nvPr/>
        </p:nvSpPr>
        <p:spPr>
          <a:xfrm>
            <a:off x="4370832" y="1389888"/>
            <a:ext cx="34381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Efficient Frontier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98264" y="214884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 level of risk, there exists an optimal portfolio that maximises return — the efficient frontier.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74736" y="1371600"/>
            <a:ext cx="36576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174736" y="1371600"/>
            <a:ext cx="3657600" cy="658368"/>
          </a:xfrm>
          <a:prstGeom prst="rect">
            <a:avLst/>
          </a:prstGeom>
          <a:solidFill>
            <a:srgbClr val="0A2B5E"/>
          </a:solidFill>
          <a:ln/>
        </p:spPr>
      </p:sp>
      <p:sp>
        <p:nvSpPr>
          <p:cNvPr id="15" name="Text 13"/>
          <p:cNvSpPr/>
          <p:nvPr/>
        </p:nvSpPr>
        <p:spPr>
          <a:xfrm>
            <a:off x="8284464" y="1389888"/>
            <a:ext cx="34381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Tangent Portfolio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11896" y="214884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optimal risky portfolio maximises the Sharpe Ratio — the best return per unit of risk taken.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" y="5440680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"Don't put all your eggs in one basket"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" y="649224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Wharton Business &amp; Financial Modeling Capstone  ·  Arnab Saha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2B5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Stock Statistics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20040" y="841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securities: Daily returns — Mean, Std Dev, Min, Max, Sharpe Ratio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1325880"/>
          <a:ext cx="11494008" cy="4754880"/>
        </p:xfrm>
        <a:graphic>
          <a:graphicData uri="http://schemas.openxmlformats.org/drawingml/2006/table">
            <a:tbl>
              <a:tblPr/>
              <a:tblGrid>
                <a:gridCol w="1188720"/>
                <a:gridCol w="1554480"/>
                <a:gridCol w="1463040"/>
                <a:gridCol w="1463040"/>
                <a:gridCol w="1463040"/>
                <a:gridCol w="1618488"/>
              </a:tblGrid>
              <a:tr h="43226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Ticker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Mean Return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Std Dev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Min Return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Max Return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Sharpe Ratio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B5E"/>
                    </a:solidFill>
                  </a:tcPr>
                </a:tc>
              </a:tr>
              <a:tr h="43226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AAPL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0.0839%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1.651%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-12.36%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8.87%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0.0508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226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MSFT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0.0746%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1.481%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-11.40%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10.45%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0.0504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</a:tr>
              <a:tr h="43226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WFC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0.0625%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1.564%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-9.04%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8.07%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0.0400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226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DIS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0.0897%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1.373%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-9.17%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7.63%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0.0653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</a:tr>
              <a:tr h="43226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COP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0.0403%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1.676%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-9.21%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6.64%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0.0240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226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XOM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0.0511%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1.197%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-6.19%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5.52%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0.0427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</a:tr>
              <a:tr h="43226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GOOG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0.0878%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1.599%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-8.38%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16.05%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0.0549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226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BIDU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0.0897%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2.493%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-14.99%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11.01%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0.0360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</a:tr>
              <a:tr h="43226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TSLA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0.2027%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3.421%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-19.33%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24.40%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0.0593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226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TTM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0.0814%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2.482%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-10.54%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12.38%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</a:rPr>
                        <a:t>0.0328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20040" y="649224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Wharton Business &amp; Financial Modeling Capstone  ·  Arnab Saha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2B5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Frontier — MSFT &amp; WFC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20040" y="841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varied from 0% to 100% in 5% increments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47472" y="1325880"/>
          <a:ext cx="68580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06640" y="1325880"/>
            <a:ext cx="477316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406640" y="1325880"/>
            <a:ext cx="4773168" cy="475488"/>
          </a:xfrm>
          <a:prstGeom prst="rect">
            <a:avLst/>
          </a:prstGeom>
          <a:solidFill>
            <a:srgbClr val="0A2B5E"/>
          </a:solidFill>
          <a:ln/>
        </p:spPr>
      </p:sp>
      <p:sp>
        <p:nvSpPr>
          <p:cNvPr id="8" name="Text 5"/>
          <p:cNvSpPr/>
          <p:nvPr/>
        </p:nvSpPr>
        <p:spPr>
          <a:xfrm>
            <a:off x="7516368" y="1362456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Variance Portfolio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543800" y="187452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MSFT: 20.00%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43800" y="218541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WFC:  80.00%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543800" y="249631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      0.0649%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543800" y="280720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Dev:     1.4765%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543800" y="311810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Sharpe:      0.0440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406640" y="3749040"/>
            <a:ext cx="4773168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406640" y="3749040"/>
            <a:ext cx="4773168" cy="475488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6" name="Text 13"/>
          <p:cNvSpPr/>
          <p:nvPr/>
        </p:nvSpPr>
        <p:spPr>
          <a:xfrm>
            <a:off x="7516368" y="3785616"/>
            <a:ext cx="4572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Tangent Portfolio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543800" y="429768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MSFT: 68.11%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543800" y="460857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WFC:  31.89%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543800" y="491947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      0.0710%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543800" y="523036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Dev:     1.9395%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543800" y="554126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Sharpe:      0.0533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47472" y="6035040"/>
            <a:ext cx="1152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Diversification reduces risk from 1.564% (WFC only) to 1.477% at minimum variance.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320040" y="649224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Wharton Business &amp; Financial Modeling Capstone  ·  Arnab Saha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2B5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Portfolio — 10 Securities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20040" y="841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Tangent portfolio (Sharpe Maximisation) — Long-Only vs Unconstrained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325880"/>
            <a:ext cx="55778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325880"/>
            <a:ext cx="5577840" cy="530352"/>
          </a:xfrm>
          <a:prstGeom prst="rect">
            <a:avLst/>
          </a:prstGeom>
          <a:solidFill>
            <a:srgbClr val="0A2B5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44168"/>
            <a:ext cx="5394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Long-Only (No Short Selling)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Sharpe: 0.0841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40280" y="19659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 0.1059%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77640" y="19659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Dev: 1.258%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359152"/>
          <a:ext cx="5257800" cy="3246120"/>
        </p:xfrm>
        <a:graphic>
          <a:graphicData uri="http://schemas.openxmlformats.org/drawingml/2006/table">
            <a:tbl>
              <a:tblPr/>
              <a:tblGrid>
                <a:gridCol w="2651760"/>
                <a:gridCol w="2606040"/>
              </a:tblGrid>
              <a:tr h="5410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Ticker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Weight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</a:rPr>
                        <a:t>AAPL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</a:rPr>
                        <a:t>17.1%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</a:rPr>
                        <a:t>MSFT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</a:rPr>
                        <a:t>9.9%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</a:rPr>
                        <a:t>DIS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</a:rPr>
                        <a:t>38.8%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</a:rPr>
                        <a:t>GOOG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</a:rPr>
                        <a:t>17.5%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</a:rPr>
                        <a:t>TSLA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</a:rPr>
                        <a:t>16.7%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6281928" y="1325880"/>
            <a:ext cx="55778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81928" y="1325880"/>
            <a:ext cx="5577840" cy="530352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4" name="Text 11"/>
          <p:cNvSpPr/>
          <p:nvPr/>
        </p:nvSpPr>
        <p:spPr>
          <a:xfrm>
            <a:off x="6391656" y="1344168"/>
            <a:ext cx="53949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Unconstrained (Short Selling Allowed)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437376" y="19659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Sharpe: 0.0880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174736" y="19659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Return: 0.1147%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9912096" y="19659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Dev: 1.305%</a:t>
            </a:r>
            <a:endParaRPr lang="en-US" sz="11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37376" y="2359152"/>
          <a:ext cx="5257800" cy="3246120"/>
        </p:xfrm>
        <a:graphic>
          <a:graphicData uri="http://schemas.openxmlformats.org/drawingml/2006/table">
            <a:tbl>
              <a:tblPr/>
              <a:tblGrid>
                <a:gridCol w="2651760"/>
                <a:gridCol w="2606040"/>
              </a:tblGrid>
              <a:tr h="5410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Ticker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B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Weight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B5E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</a:rPr>
                        <a:t>AAPL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</a:rPr>
                        <a:t>20.7%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</a:rPr>
                        <a:t>MSFT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</a:rPr>
                        <a:t>15.2%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</a:rPr>
                        <a:t>DIS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</a:rPr>
                        <a:t>49.7%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</a:rPr>
                        <a:t>GOOG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</a:rPr>
                        <a:t>20.1%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4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</a:rPr>
                        <a:t>XOM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</a:rPr>
                        <a:t>22.0%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BDE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347472" y="60350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*10 Securities: AAPL, BIDU, COP, DIS, GOOG, MSFT, TSLA, TTM, WFC, XOM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320040" y="649224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Wharton Business &amp; Financial Modeling Capstone  ·  Arnab Saha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A2B5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20116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Multi-Asset Portfolio vs. AAPL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20040" y="8412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$5M investment | 2016 | Weights fixed at Dec 2015 optimal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47472" y="1325880"/>
          <a:ext cx="73152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882128" y="1325880"/>
            <a:ext cx="429768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882128" y="1325880"/>
            <a:ext cx="4297680" cy="457200"/>
          </a:xfrm>
          <a:prstGeom prst="rect">
            <a:avLst/>
          </a:prstGeom>
          <a:solidFill>
            <a:srgbClr val="0A2B5E"/>
          </a:solidFill>
          <a:ln/>
        </p:spPr>
      </p:sp>
      <p:sp>
        <p:nvSpPr>
          <p:cNvPr id="8" name="Text 5"/>
          <p:cNvSpPr/>
          <p:nvPr/>
        </p:nvSpPr>
        <p:spPr>
          <a:xfrm>
            <a:off x="7973568" y="1344168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Allocation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019288" y="19019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VBTLX (Bonds):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802368" y="190195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67.85%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899648" y="190195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$3,392,500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019288" y="234086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VFIAX (Equities):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802368" y="234086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32.15%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899648" y="234086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$1,607,500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019288" y="277977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Ratio: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802368" y="277977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0.4747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882128" y="3520440"/>
            <a:ext cx="42976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882128" y="3520440"/>
            <a:ext cx="4297680" cy="4572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9" name="Text 16"/>
          <p:cNvSpPr/>
          <p:nvPr/>
        </p:nvSpPr>
        <p:spPr>
          <a:xfrm>
            <a:off x="7973568" y="3538728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Value — $5M Invested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019288" y="409651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Portfolio: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345168" y="409651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+6.77%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0305288" y="409651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$5,338,422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19288" y="464515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AAPL: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345168" y="4645152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+7.94%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0305288" y="464515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$5,397,050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20040" y="6492240"/>
            <a:ext cx="11521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Wharton Business &amp; Financial Modeling Capstone  ·  Arnab Saha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1430000" cy="6400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41148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40680" cy="2148840"/>
          </a:xfrm>
          <a:prstGeom prst="rect">
            <a:avLst/>
          </a:prstGeom>
          <a:solidFill>
            <a:srgbClr val="F4F8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685800" cy="2148840"/>
          </a:xfrm>
          <a:prstGeom prst="rect">
            <a:avLst/>
          </a:prstGeom>
          <a:solidFill>
            <a:srgbClr val="0A2B5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57400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50876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Diversification Works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2011680"/>
            <a:ext cx="44805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assets reduces portfolio risk — min variance (1.477%) is far below any single stock.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1371600"/>
            <a:ext cx="5440680" cy="2148840"/>
          </a:xfrm>
          <a:prstGeom prst="rect">
            <a:avLst/>
          </a:prstGeom>
          <a:solidFill>
            <a:srgbClr val="F4F8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371600"/>
            <a:ext cx="685800" cy="2148840"/>
          </a:xfrm>
          <a:prstGeom prst="rect">
            <a:avLst/>
          </a:prstGeom>
          <a:solidFill>
            <a:srgbClr val="0A2B5E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2057400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86600" y="150876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Selling Unlocks Alpha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86600" y="2011680"/>
            <a:ext cx="44805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Unconstrained portfolio achieves Sharpe 0.0880 vs 0.0841 long-only — more flexibility = better risk/return.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440680" cy="2148840"/>
          </a:xfrm>
          <a:prstGeom prst="rect">
            <a:avLst/>
          </a:prstGeom>
          <a:solidFill>
            <a:srgbClr val="F4F8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840480"/>
            <a:ext cx="685800" cy="2148840"/>
          </a:xfrm>
          <a:prstGeom prst="rect">
            <a:avLst/>
          </a:prstGeom>
          <a:solidFill>
            <a:srgbClr val="0A2B5E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526280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397764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Over Volatility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4480560"/>
            <a:ext cx="44805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never dropped below −0.62%/month vs AAPL's −10% crash in Feb 2016. Consistency matters.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840480"/>
            <a:ext cx="5440680" cy="2148840"/>
          </a:xfrm>
          <a:prstGeom prst="rect">
            <a:avLst/>
          </a:prstGeom>
          <a:solidFill>
            <a:srgbClr val="F4F8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63640" y="3840480"/>
            <a:ext cx="685800" cy="2148840"/>
          </a:xfrm>
          <a:prstGeom prst="rect">
            <a:avLst/>
          </a:prstGeom>
          <a:solidFill>
            <a:srgbClr val="0A2B5E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4526280"/>
            <a:ext cx="685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086600" y="397764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Multi-Asset Is Powerful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86600" y="4480560"/>
            <a:ext cx="44805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Bonds + equities with negative covariance create superior risk-adjusted returns vs single stocks.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365760" y="6336792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Markowitz (1952) — Portfolio Selection  ·  Wharton Financial Modeling Capstone  ·  Arnab Saha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Portfolio Diversification &amp; Efficient Frontier Analysis</dc:title>
  <dc:subject>PptxGenJS Presentation</dc:subject>
  <dc:creator>Arnab Saha</dc:creator>
  <cp:lastModifiedBy>Arnab Saha</cp:lastModifiedBy>
  <cp:revision>1</cp:revision>
  <dcterms:created xsi:type="dcterms:W3CDTF">2026-04-24T11:00:34Z</dcterms:created>
  <dcterms:modified xsi:type="dcterms:W3CDTF">2026-04-24T11:00:34Z</dcterms:modified>
</cp:coreProperties>
</file>